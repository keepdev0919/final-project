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9" r:id="rId2"/>
    <p:sldId id="258" r:id="rId3"/>
    <p:sldId id="267" r:id="rId4"/>
    <p:sldId id="268" r:id="rId5"/>
    <p:sldId id="263" r:id="rId6"/>
    <p:sldId id="260" r:id="rId7"/>
    <p:sldId id="269" r:id="rId16"/>
    <p:sldId id="270" r:id="rId17"/>
    <p:sldId id="271" r:id="rId18"/>
    <p:sldId id="272" r:id="rId19"/>
    <p:sldId id="264" r:id="rId8"/>
    <p:sldId id="265" r:id="rId9"/>
    <p:sldId id="266"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6F00"/>
    <a:srgbClr val="FFA401"/>
    <a:srgbClr val="FFFDE7"/>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p:scale>
          <a:sx n="100" d="100"/>
          <a:sy n="100" d="100"/>
        </p:scale>
        <p:origin x="936" y="3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3549DB-4EF3-40B0-A785-8572249070D6}" type="datetimeFigureOut">
              <a:rPr lang="ko-KR" altLang="en-US" smtClean="0"/>
              <a:t>2026-07-29</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4097B3-0D7D-4E86-933F-EBF9BA5F97E0}" type="slidenum">
              <a:rPr lang="ko-KR" altLang="en-US" smtClean="0"/>
              <a:t>‹#›</a:t>
            </a:fld>
            <a:endParaRPr lang="ko-KR" altLang="en-US"/>
          </a:p>
        </p:txBody>
      </p:sp>
    </p:spTree>
    <p:extLst>
      <p:ext uri="{BB962C8B-B14F-4D97-AF65-F5344CB8AC3E}">
        <p14:creationId xmlns:p14="http://schemas.microsoft.com/office/powerpoint/2010/main" val="19321721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표지">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65710554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서비스 소개">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92000" cy="6857999"/>
          </a:xfrm>
          <a:prstGeom prst="rect">
            <a:avLst/>
          </a:prstGeom>
        </p:spPr>
      </p:pic>
    </p:spTree>
    <p:extLst>
      <p:ext uri="{BB962C8B-B14F-4D97-AF65-F5344CB8AC3E}">
        <p14:creationId xmlns:p14="http://schemas.microsoft.com/office/powerpoint/2010/main" val="353622321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지역 특화 서비스 구현 세부내용">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92000" cy="6840835"/>
          </a:xfrm>
          <a:prstGeom prst="rect">
            <a:avLst/>
          </a:prstGeom>
        </p:spPr>
      </p:pic>
    </p:spTree>
    <p:extLst>
      <p:ext uri="{BB962C8B-B14F-4D97-AF65-F5344CB8AC3E}">
        <p14:creationId xmlns:p14="http://schemas.microsoft.com/office/powerpoint/2010/main" val="3679998643"/>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서비스 핵심 기능별 흐름도">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13438" y="18574"/>
            <a:ext cx="12165123" cy="6839426"/>
          </a:xfrm>
          <a:prstGeom prst="rect">
            <a:avLst/>
          </a:prstGeom>
        </p:spPr>
      </p:pic>
    </p:spTree>
    <p:extLst>
      <p:ext uri="{BB962C8B-B14F-4D97-AF65-F5344CB8AC3E}">
        <p14:creationId xmlns:p14="http://schemas.microsoft.com/office/powerpoint/2010/main" val="1439664904"/>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데이터 활용(한국관광공사 OpenAPI)">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3912" y="13811"/>
            <a:ext cx="12184175" cy="6830378"/>
          </a:xfrm>
          <a:prstGeom prst="rect">
            <a:avLst/>
          </a:prstGeom>
        </p:spPr>
      </p:pic>
    </p:spTree>
    <p:extLst>
      <p:ext uri="{BB962C8B-B14F-4D97-AF65-F5344CB8AC3E}">
        <p14:creationId xmlns:p14="http://schemas.microsoft.com/office/powerpoint/2010/main" val="2561228989"/>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데이터 활용(기타)">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8675" y="9047"/>
            <a:ext cx="12174649" cy="6839905"/>
          </a:xfrm>
          <a:prstGeom prst="rect">
            <a:avLst/>
          </a:prstGeom>
        </p:spPr>
      </p:pic>
    </p:spTree>
    <p:extLst>
      <p:ext uri="{BB962C8B-B14F-4D97-AF65-F5344CB8AC3E}">
        <p14:creationId xmlns:p14="http://schemas.microsoft.com/office/powerpoint/2010/main" val="350983382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서비스 차별성&amp;발전계획">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3912" y="4284"/>
            <a:ext cx="12184175" cy="6849431"/>
          </a:xfrm>
          <a:prstGeom prst="rect">
            <a:avLst/>
          </a:prstGeom>
        </p:spPr>
      </p:pic>
    </p:spTree>
    <p:extLst>
      <p:ext uri="{BB962C8B-B14F-4D97-AF65-F5344CB8AC3E}">
        <p14:creationId xmlns:p14="http://schemas.microsoft.com/office/powerpoint/2010/main" val="145924939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A38FB6A-844E-4645-B6B8-D2945F9927BB}" type="datetimeFigureOut">
              <a:rPr lang="ko-KR" altLang="en-US" smtClean="0"/>
              <a:t>2026-07-29</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38832701-68F9-4777-ABB9-C14E97591467}" type="slidenum">
              <a:rPr lang="ko-KR" altLang="en-US" smtClean="0"/>
              <a:t>‹#›</a:t>
            </a:fld>
            <a:endParaRPr lang="ko-KR" altLang="en-US"/>
          </a:p>
        </p:txBody>
      </p:sp>
      <p:grpSp>
        <p:nvGrpSpPr>
          <p:cNvPr id="14" name="그룹 13"/>
          <p:cNvGrpSpPr/>
          <p:nvPr userDrawn="1"/>
        </p:nvGrpSpPr>
        <p:grpSpPr>
          <a:xfrm>
            <a:off x="189807" y="256797"/>
            <a:ext cx="11812386" cy="580915"/>
            <a:chOff x="189807" y="256797"/>
            <a:chExt cx="11812386" cy="580915"/>
          </a:xfrm>
        </p:grpSpPr>
        <p:grpSp>
          <p:nvGrpSpPr>
            <p:cNvPr id="10" name="그룹 9"/>
            <p:cNvGrpSpPr/>
            <p:nvPr/>
          </p:nvGrpSpPr>
          <p:grpSpPr>
            <a:xfrm>
              <a:off x="8161715" y="256797"/>
              <a:ext cx="3840478" cy="340519"/>
              <a:chOff x="6733312" y="182882"/>
              <a:chExt cx="3840478" cy="340519"/>
            </a:xfrm>
          </p:grpSpPr>
          <p:sp>
            <p:nvSpPr>
              <p:cNvPr id="12" name="TextBox 11"/>
              <p:cNvSpPr txBox="1"/>
              <p:nvPr/>
            </p:nvSpPr>
            <p:spPr>
              <a:xfrm>
                <a:off x="6733312" y="182882"/>
                <a:ext cx="2419001" cy="340519"/>
              </a:xfrm>
              <a:prstGeom prst="roundRect">
                <a:avLst/>
              </a:prstGeom>
              <a:solidFill>
                <a:srgbClr val="FF6F00"/>
              </a:solidFill>
            </p:spPr>
            <p:txBody>
              <a:bodyPr wrap="square" rtlCol="0">
                <a:spAutoFit/>
              </a:bodyPr>
              <a:lstStyle/>
              <a:p>
                <a:pPr algn="ctr"/>
                <a:r>
                  <a:rPr lang="en-US" altLang="ko-KR" sz="1400" dirty="0" smtClean="0">
                    <a:solidFill>
                      <a:schemeClr val="bg1"/>
                    </a:solidFill>
                    <a:latin typeface="Noto Sans KR Medium" panose="020B0600000000000000" pitchFamily="34" charset="-127"/>
                    <a:ea typeface="Noto Sans KR Medium" panose="020B0600000000000000" pitchFamily="34" charset="-127"/>
                  </a:rPr>
                  <a:t>2026 </a:t>
                </a:r>
                <a:r>
                  <a:rPr lang="ko-KR" altLang="en-US" sz="1400" dirty="0" smtClean="0">
                    <a:solidFill>
                      <a:schemeClr val="bg1"/>
                    </a:solidFill>
                    <a:latin typeface="Noto Sans KR Medium" panose="020B0600000000000000" pitchFamily="34" charset="-127"/>
                    <a:ea typeface="Noto Sans KR Medium" panose="020B0600000000000000" pitchFamily="34" charset="-127"/>
                  </a:rPr>
                  <a:t>관광데이터 활용 공모전</a:t>
                </a:r>
                <a:endParaRPr lang="ko-KR" altLang="en-US" sz="1400" dirty="0">
                  <a:solidFill>
                    <a:schemeClr val="bg1"/>
                  </a:solidFill>
                  <a:latin typeface="Noto Sans KR Medium" panose="020B0600000000000000" pitchFamily="34" charset="-127"/>
                  <a:ea typeface="Noto Sans KR Medium" panose="020B0600000000000000" pitchFamily="34" charset="-127"/>
                </a:endParaRPr>
              </a:p>
            </p:txBody>
          </p:sp>
          <p:sp>
            <p:nvSpPr>
              <p:cNvPr id="13" name="TextBox 12"/>
              <p:cNvSpPr txBox="1"/>
              <p:nvPr/>
            </p:nvSpPr>
            <p:spPr>
              <a:xfrm>
                <a:off x="9246526" y="182882"/>
                <a:ext cx="1327264" cy="340519"/>
              </a:xfrm>
              <a:prstGeom prst="roundRect">
                <a:avLst/>
              </a:prstGeom>
              <a:solidFill>
                <a:srgbClr val="FFFDE7"/>
              </a:solidFill>
            </p:spPr>
            <p:txBody>
              <a:bodyPr wrap="square" rtlCol="0">
                <a:spAutoFit/>
              </a:bodyPr>
              <a:lstStyle/>
              <a:p>
                <a:pPr algn="ctr"/>
                <a:r>
                  <a:rPr lang="ko-KR" altLang="en-US" sz="1400" dirty="0" smtClean="0">
                    <a:latin typeface="Noto Sans KR Medium" panose="020B0600000000000000" pitchFamily="34" charset="-127"/>
                    <a:ea typeface="Noto Sans KR Medium" panose="020B0600000000000000" pitchFamily="34" charset="-127"/>
                  </a:rPr>
                  <a:t>웹〮앱 개발 부문</a:t>
                </a:r>
                <a:endParaRPr lang="ko-KR" altLang="en-US" sz="1400" dirty="0">
                  <a:latin typeface="Noto Sans KR Medium" panose="020B0600000000000000" pitchFamily="34" charset="-127"/>
                  <a:ea typeface="Noto Sans KR Medium" panose="020B0600000000000000" pitchFamily="34" charset="-127"/>
                </a:endParaRPr>
              </a:p>
            </p:txBody>
          </p:sp>
        </p:grpSp>
        <p:sp>
          <p:nvSpPr>
            <p:cNvPr id="11" name="직사각형 10"/>
            <p:cNvSpPr/>
            <p:nvPr/>
          </p:nvSpPr>
          <p:spPr>
            <a:xfrm>
              <a:off x="189807" y="791993"/>
              <a:ext cx="11812386" cy="45719"/>
            </a:xfrm>
            <a:prstGeom prst="rect">
              <a:avLst/>
            </a:prstGeom>
            <a:solidFill>
              <a:srgbClr val="FF6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39394489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38FB6A-844E-4645-B6B8-D2945F9927BB}" type="datetimeFigureOut">
              <a:rPr lang="ko-KR" altLang="en-US" smtClean="0"/>
              <a:t>2026-07-29</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832701-68F9-4777-ABB9-C14E97591467}" type="slidenum">
              <a:rPr lang="ko-KR" altLang="en-US" smtClean="0"/>
              <a:t>‹#›</a:t>
            </a:fld>
            <a:endParaRPr lang="ko-KR" altLang="en-US"/>
          </a:p>
        </p:txBody>
      </p:sp>
    </p:spTree>
    <p:extLst>
      <p:ext uri="{BB962C8B-B14F-4D97-AF65-F5344CB8AC3E}">
        <p14:creationId xmlns:p14="http://schemas.microsoft.com/office/powerpoint/2010/main" val="2217332544"/>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60" r:id="rId3"/>
    <p:sldLayoutId id="2147483661" r:id="rId4"/>
    <p:sldLayoutId id="2147483662" r:id="rId5"/>
    <p:sldLayoutId id="2147483663" r:id="rId6"/>
    <p:sldLayoutId id="2147483664" r:id="rId7"/>
    <p:sldLayoutId id="2147483665" r:id="rId8"/>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표 5"/>
          <p:cNvGraphicFramePr>
            <a:graphicFrameLocks noGrp="1"/>
          </p:cNvGraphicFramePr>
          <p:nvPr>
            <p:extLst>
              <p:ext uri="{D42A27DB-BD31-4B8C-83A1-F6EECF244321}">
                <p14:modId xmlns:p14="http://schemas.microsoft.com/office/powerpoint/2010/main" val="84002065"/>
              </p:ext>
            </p:extLst>
          </p:nvPr>
        </p:nvGraphicFramePr>
        <p:xfrm>
          <a:off x="527397" y="4563687"/>
          <a:ext cx="6712988" cy="1112210"/>
        </p:xfrm>
        <a:graphic>
          <a:graphicData uri="http://schemas.openxmlformats.org/drawingml/2006/table">
            <a:tbl>
              <a:tblPr firstRow="1" bandRow="1">
                <a:tableStyleId>{5C22544A-7EE6-4342-B048-85BDC9FD1C3A}</a:tableStyleId>
              </a:tblPr>
              <a:tblGrid>
                <a:gridCol w="1891569">
                  <a:extLst>
                    <a:ext uri="{9D8B030D-6E8A-4147-A177-3AD203B41FA5}">
                      <a16:colId xmlns:a16="http://schemas.microsoft.com/office/drawing/2014/main" val="2581860913"/>
                    </a:ext>
                  </a:extLst>
                </a:gridCol>
                <a:gridCol w="4821419">
                  <a:extLst>
                    <a:ext uri="{9D8B030D-6E8A-4147-A177-3AD203B41FA5}">
                      <a16:colId xmlns:a16="http://schemas.microsoft.com/office/drawing/2014/main" val="1059508984"/>
                    </a:ext>
                  </a:extLst>
                </a:gridCol>
              </a:tblGrid>
              <a:tr h="547792">
                <a:tc>
                  <a:txBody>
                    <a:bodyPr/>
                    <a:lstStyle/>
                    <a:p>
                      <a:pPr algn="ctr" latinLnBrk="1"/>
                      <a:r>
                        <a:rPr lang="ko-KR" altLang="en-US" sz="2400" b="1" dirty="0" smtClean="0">
                          <a:solidFill>
                            <a:schemeClr val="bg1"/>
                          </a:solidFill>
                        </a:rPr>
                        <a:t>팀 명</a:t>
                      </a:r>
                      <a:endParaRPr lang="ko-KR" altLang="en-US" sz="2400" b="1" dirty="0">
                        <a:solidFill>
                          <a:schemeClr val="bg1"/>
                        </a:solidFill>
                      </a:endParaRPr>
                    </a:p>
                  </a:txBody>
                  <a:tcPr anchor="ctr">
                    <a:lnR w="12700" cap="flat" cmpd="sng" algn="ctr">
                      <a:solidFill>
                        <a:schemeClr val="bg1">
                          <a:lumMod val="85000"/>
                        </a:schemeClr>
                      </a:solidFill>
                      <a:prstDash val="solid"/>
                      <a:round/>
                      <a:headEnd type="none" w="med" len="med"/>
                      <a:tailEnd type="none" w="med" len="med"/>
                    </a:lnR>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latinLnBrk="1"/>
                      <a:r>
                        <a:rPr sz="2000" b="1">
                          <a:solidFill>
                            <a:srgbClr val="1A1A1A"/>
                          </a:solidFill>
                        </a:rPr>
                        <a:t>놀멍봅서</a:t>
                      </a:r>
                      <a:endParaRPr lang="ko-KR" altLang="en-US" sz="2400"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B w="12700" cap="flat" cmpd="sng" algn="ctr">
                      <a:solidFill>
                        <a:schemeClr val="bg1">
                          <a:lumMod val="85000"/>
                        </a:schemeClr>
                      </a:solidFill>
                      <a:prstDash val="solid"/>
                      <a:round/>
                      <a:headEnd type="none" w="med" len="med"/>
                      <a:tailEnd type="none" w="med" len="med"/>
                    </a:lnB>
                    <a:solidFill>
                      <a:srgbClr val="FFFDE7"/>
                    </a:solidFill>
                  </a:tcPr>
                </a:tc>
                <a:extLst>
                  <a:ext uri="{0D108BD9-81ED-4DB2-BD59-A6C34878D82A}">
                    <a16:rowId xmlns:a16="http://schemas.microsoft.com/office/drawing/2014/main" val="3342559057"/>
                  </a:ext>
                </a:extLst>
              </a:tr>
              <a:tr h="564418">
                <a:tc>
                  <a:txBody>
                    <a:bodyPr/>
                    <a:lstStyle/>
                    <a:p>
                      <a:pPr algn="ctr" latinLnBrk="1"/>
                      <a:r>
                        <a:rPr lang="ko-KR" altLang="en-US" sz="2400" b="1" dirty="0" smtClean="0">
                          <a:solidFill>
                            <a:schemeClr val="bg1"/>
                          </a:solidFill>
                        </a:rPr>
                        <a:t>서비스</a:t>
                      </a:r>
                      <a:r>
                        <a:rPr lang="ko-KR" altLang="en-US" sz="2400" b="1" baseline="0" dirty="0" smtClean="0">
                          <a:solidFill>
                            <a:schemeClr val="bg1"/>
                          </a:solidFill>
                        </a:rPr>
                        <a:t> </a:t>
                      </a:r>
                      <a:r>
                        <a:rPr lang="ko-KR" altLang="en-US" sz="2400" b="1" dirty="0" smtClean="0">
                          <a:solidFill>
                            <a:schemeClr val="bg1"/>
                          </a:solidFill>
                        </a:rPr>
                        <a:t>명</a:t>
                      </a:r>
                      <a:endParaRPr lang="ko-KR" altLang="en-US" sz="2400" b="1" dirty="0">
                        <a:solidFill>
                          <a:schemeClr val="bg1"/>
                        </a:solidFill>
                      </a:endParaRPr>
                    </a:p>
                  </a:txBody>
                  <a:tcPr anchor="ctr">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solidFill>
                      <a:srgbClr val="FFA401"/>
                    </a:solidFill>
                  </a:tcPr>
                </a:tc>
                <a:tc>
                  <a:txBody>
                    <a:bodyPr/>
                    <a:lstStyle/>
                    <a:p>
                      <a:pPr latinLnBrk="1"/>
                      <a:r>
                        <a:rPr sz="2000" b="1">
                          <a:solidFill>
                            <a:srgbClr val="1A1A1A"/>
                          </a:solidFill>
                        </a:rPr>
                        <a:t>놀멍봅서</a:t>
                      </a:r>
                      <a:endParaRPr lang="ko-KR" altLang="en-US" sz="2400"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T w="12700" cap="flat" cmpd="sng" algn="ctr">
                      <a:solidFill>
                        <a:schemeClr val="bg1">
                          <a:lumMod val="85000"/>
                        </a:schemeClr>
                      </a:solidFill>
                      <a:prstDash val="solid"/>
                      <a:round/>
                      <a:headEnd type="none" w="med" len="med"/>
                      <a:tailEnd type="none" w="med" len="med"/>
                    </a:lnT>
                    <a:solidFill>
                      <a:srgbClr val="FFFDE7"/>
                    </a:solidFill>
                  </a:tcPr>
                </a:tc>
                <a:extLst>
                  <a:ext uri="{0D108BD9-81ED-4DB2-BD59-A6C34878D82A}">
                    <a16:rowId xmlns:a16="http://schemas.microsoft.com/office/drawing/2014/main" val="2441169869"/>
                  </a:ext>
                </a:extLst>
              </a:tr>
            </a:tbl>
          </a:graphicData>
        </a:graphic>
      </p:graphicFrame>
    </p:spTree>
    <p:extLst>
      <p:ext uri="{BB962C8B-B14F-4D97-AF65-F5344CB8AC3E}">
        <p14:creationId xmlns:p14="http://schemas.microsoft.com/office/powerpoint/2010/main" val="13534498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표 16"/>
          <p:cNvGraphicFramePr>
            <a:graphicFrameLocks noGrp="1"/>
          </p:cNvGraphicFramePr>
          <p:nvPr>
            <p:extLst>
              <p:ext uri="{D42A27DB-BD31-4B8C-83A1-F6EECF244321}">
                <p14:modId xmlns:p14="http://schemas.microsoft.com/office/powerpoint/2010/main" val="3131695012"/>
              </p:ext>
            </p:extLst>
          </p:nvPr>
        </p:nvGraphicFramePr>
        <p:xfrm>
          <a:off x="287250" y="1218429"/>
          <a:ext cx="11649825" cy="4750109"/>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547212">
                <a:tc>
                  <a:txBody>
                    <a:bodyPr/>
                    <a:lstStyle/>
                    <a:p>
                      <a:pPr algn="ctr" latinLnBrk="1"/>
                      <a:r>
                        <a:rPr lang="ko-KR" altLang="en-US" b="1" dirty="0" smtClean="0">
                          <a:solidFill>
                            <a:schemeClr val="bg1"/>
                          </a:solidFill>
                        </a:rPr>
                        <a:t>서비스명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lvl="0" indent="0" algn="just" rtl="0">
                        <a:spcBef>
                          <a:spcPts val="0"/>
                        </a:spcBef>
                        <a:spcAft>
                          <a:spcPts val="0"/>
                        </a:spcAft>
                        <a:buNone/>
                      </a:pPr>
                      <a:r>
                        <a:rPr sz="1600" b="1">
                          <a:solidFill>
                            <a:srgbClr val="1A1A1A"/>
                          </a:solidFill>
                        </a:rPr>
                        <a:t>놀멍봅서</a:t>
                      </a:r>
                      <a:endParaRPr lang="en-US" altLang="ko-KR" sz="1800" b="0" baseline="0" dirty="0" smtClean="0">
                        <a:solidFill>
                          <a:schemeClr val="tx1"/>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731060">
                <a:tc>
                  <a:txBody>
                    <a:bodyPr/>
                    <a:lstStyle/>
                    <a:p>
                      <a:pPr algn="ctr" latinLnBrk="1"/>
                      <a:r>
                        <a:rPr lang="ko-KR" altLang="en-US" b="1" dirty="0" smtClean="0">
                          <a:solidFill>
                            <a:schemeClr val="bg1"/>
                          </a:solidFill>
                        </a:rPr>
                        <a:t>서비스 유형</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lvl="0" indent="0" algn="just" rtl="0">
                        <a:spcBef>
                          <a:spcPts val="0"/>
                        </a:spcBef>
                        <a:spcAft>
                          <a:spcPts val="0"/>
                        </a:spcAft>
                        <a:buNone/>
                      </a:pPr>
                      <a:r>
                        <a:rPr sz="1600" b="0">
                          <a:solidFill>
                            <a:srgbClr val="1A1A1A"/>
                          </a:solidFill>
                        </a:rPr>
                        <a:t>앱 서비스 (iOS)</a:t>
                      </a:r>
                      <a:endParaRPr lang="en-US" altLang="ko-KR" sz="1800" b="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126837495"/>
                  </a:ext>
                </a:extLst>
              </a:tr>
              <a:tr h="1030246">
                <a:tc>
                  <a:txBody>
                    <a:bodyPr/>
                    <a:lstStyle/>
                    <a:p>
                      <a:pPr algn="ctr" latinLnBrk="1"/>
                      <a:r>
                        <a:rPr lang="ko-KR" altLang="en-US" b="1" dirty="0" smtClean="0">
                          <a:solidFill>
                            <a:schemeClr val="bg1"/>
                          </a:solidFill>
                        </a:rPr>
                        <a:t>서비스 개요</a:t>
                      </a:r>
                      <a:endParaRPr lang="en-US" altLang="ko-KR"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sz="1500" b="0">
                          <a:solidFill>
                            <a:srgbClr val="1A1A1A"/>
                          </a:solidFill>
                        </a:rPr>
                        <a:t>제주 관광지에 도착한 여행자가 눈앞의 실물을 직접 관찰해 미션을 풀며 그 장소 하나를 완주하는 위치 기반 현장 탐험 게임 서비스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64568051"/>
                  </a:ext>
                </a:extLst>
              </a:tr>
              <a:tr h="2441591">
                <a:tc>
                  <a:txBody>
                    <a:bodyPr/>
                    <a:lstStyle/>
                    <a:p>
                      <a:pPr algn="ctr" latinLnBrk="1"/>
                      <a:r>
                        <a:rPr lang="ko-KR" altLang="en-US" b="1" dirty="0" smtClean="0">
                          <a:solidFill>
                            <a:schemeClr val="bg1"/>
                          </a:solidFill>
                        </a:rPr>
                        <a:t>주제 선정 이유</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sz="1300" b="0">
                          <a:solidFill>
                            <a:srgbClr val="1A1A1A"/>
                          </a:solidFill>
                        </a:rPr>
                        <a:t>제주를 찾는 개인·소규모 여행자는 관광지에 도착한 뒤 무엇을 봐야 하는지 모른 채 사진 몇 장을 남기고 자리를 뜬다. 안내판과 오디오 가이드는 설명을 일방적으로 전달할 뿐이라 여행자는 계속 관람객으로 남는다. 반대로 전문 해설사 동행은 비용과 예약 부담이 커 개인 여행자에게 현실적인 선택지가 되지 못한다.</a:t>
                      </a:r>
                    </a:p>
                    <a:p>
                      <a:r>
                        <a:rPr sz="1300" b="0">
                          <a:solidFill>
                            <a:srgbClr val="1A1A1A"/>
                          </a:solidFill>
                        </a:rPr>
                        <a:t>놀멍봅서는 해설사가 현장에서 하던 일 — 눈앞의 대상을 가리키고, 질문을 던지고, 답을 들은 뒤에 의미를 설명하는 흐름 — 을 게임의 진행 규칙으로 옮겼다. 여행자는 설명을 먼저 듣는 대신 직접 찾아내고, 찾아낸 뒤에야 그것이 무엇이었는지 알게 된다.</a:t>
                      </a:r>
                    </a:p>
                    <a:p>
                      <a:r>
                        <a:rPr sz="1300" b="0">
                          <a:solidFill>
                            <a:srgbClr val="1A1A1A"/>
                          </a:solidFill>
                        </a:rPr>
                        <a:t>서비스명 '놀멍봅서'는 '놀며 보세요'라는 뜻의 제주어다. 관광지를 보고 나오는 곳이 아니라 플레이하고 나오는 곳으로 바꾸는 것이 목표다.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15260009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표 16"/>
          <p:cNvGraphicFramePr>
            <a:graphicFrameLocks noGrp="1"/>
          </p:cNvGraphicFramePr>
          <p:nvPr>
            <p:extLst>
              <p:ext uri="{D42A27DB-BD31-4B8C-83A1-F6EECF244321}">
                <p14:modId xmlns:p14="http://schemas.microsoft.com/office/powerpoint/2010/main" val="3960646751"/>
              </p:ext>
            </p:extLst>
          </p:nvPr>
        </p:nvGraphicFramePr>
        <p:xfrm>
          <a:off x="287250" y="1218429"/>
          <a:ext cx="11649826" cy="4733484"/>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4">
                  <a:extLst>
                    <a:ext uri="{9D8B030D-6E8A-4147-A177-3AD203B41FA5}">
                      <a16:colId xmlns:a16="http://schemas.microsoft.com/office/drawing/2014/main" val="3999346814"/>
                    </a:ext>
                  </a:extLst>
                </a:gridCol>
              </a:tblGrid>
              <a:tr h="4733484">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smtClean="0">
                          <a:solidFill>
                            <a:schemeClr val="bg1"/>
                          </a:solidFill>
                        </a:rPr>
                        <a:t>서비스 핵심기능</a:t>
                      </a:r>
                    </a:p>
                    <a:p>
                      <a:pPr algn="ctr" latinLnBrk="1"/>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sz="1400" b="0">
                          <a:solidFill>
                            <a:srgbClr val="1A1A1A"/>
                          </a:solidFill>
                        </a:rPr>
                        <a:t>- 현장 탐험 PLAY : 관광지 안을 이동하며 실물을 관찰해 미션을 풀고, 발견한 사실의 의미를 확인한 뒤 장소를 완주하는 게임형 현장 콘텐츠</a:t>
                      </a:r>
                    </a:p>
                    <a:p>
                      <a:r>
                        <a:rPr sz="1400" b="0">
                          <a:solidFill>
                            <a:srgbClr val="1A1A1A"/>
                          </a:solidFill>
                        </a:rPr>
                        <a:t>- 관광지 상세 정보 : 한국관광공사 OpenAPI를 실시간 호출해 사진·개요·주소·운영시간·휴무일·입장료·주차 정보를 제공</a:t>
                      </a:r>
                    </a:p>
                    <a:p>
                      <a:r>
                        <a:rPr sz="1400" b="0">
                          <a:solidFill>
                            <a:srgbClr val="1A1A1A"/>
                          </a:solidFill>
                        </a:rPr>
                        <a:t>- 실제 여행 동선 기반 코스 추천 : 제주 여행자들의 실제 일정 데이터를 분석해 만든 코스를 권역·기간 조건으로 추천</a:t>
                      </a:r>
                    </a:p>
                    <a:p>
                      <a:r>
                        <a:rPr sz="1400" b="0">
                          <a:solidFill>
                            <a:srgbClr val="1A1A1A"/>
                          </a:solidFill>
                        </a:rPr>
                        <a:t>- PLAY 지도 : 제주 어디에서 플레이할 수 있는지를 지도에서 확인 (플레이 가능 / 준비 중 구분)</a:t>
                      </a:r>
                    </a:p>
                    <a:p>
                      <a:r>
                        <a:rPr sz="1400" b="0">
                          <a:solidFill>
                            <a:srgbClr val="1A1A1A"/>
                          </a:solidFill>
                        </a:rPr>
                        <a:t>- 진행 상태 저장과 이어하기 : 현장에서 중단해도 완료한 미션 다음부터 다시 이어서 진행</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bl>
          </a:graphicData>
        </a:graphic>
      </p:graphicFrame>
    </p:spTree>
    <p:extLst>
      <p:ext uri="{BB962C8B-B14F-4D97-AF65-F5344CB8AC3E}">
        <p14:creationId xmlns:p14="http://schemas.microsoft.com/office/powerpoint/2010/main" val="409868818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표 16"/>
          <p:cNvGraphicFramePr>
            <a:graphicFrameLocks noGrp="1"/>
          </p:cNvGraphicFramePr>
          <p:nvPr>
            <p:extLst>
              <p:ext uri="{D42A27DB-BD31-4B8C-83A1-F6EECF244321}">
                <p14:modId xmlns:p14="http://schemas.microsoft.com/office/powerpoint/2010/main" val="1267559681"/>
              </p:ext>
            </p:extLst>
          </p:nvPr>
        </p:nvGraphicFramePr>
        <p:xfrm>
          <a:off x="287250" y="1218429"/>
          <a:ext cx="11649826" cy="4991178"/>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4">
                  <a:extLst>
                    <a:ext uri="{9D8B030D-6E8A-4147-A177-3AD203B41FA5}">
                      <a16:colId xmlns:a16="http://schemas.microsoft.com/office/drawing/2014/main" val="3999346814"/>
                    </a:ext>
                  </a:extLst>
                </a:gridCol>
              </a:tblGrid>
              <a:tr h="1847697">
                <a:tc>
                  <a:txBody>
                    <a:bodyPr/>
                    <a:lstStyle/>
                    <a:p>
                      <a:pPr algn="ctr" latinLnBrk="1"/>
                      <a:r>
                        <a:rPr lang="ko-KR" altLang="en-US" b="1" dirty="0" smtClean="0">
                          <a:solidFill>
                            <a:schemeClr val="bg1"/>
                          </a:solidFill>
                        </a:rPr>
                        <a:t>서비스</a:t>
                      </a:r>
                      <a:endParaRPr lang="en-US" altLang="ko-KR" b="1" dirty="0" smtClean="0">
                        <a:solidFill>
                          <a:schemeClr val="bg1"/>
                        </a:solidFill>
                      </a:endParaRPr>
                    </a:p>
                    <a:p>
                      <a:pPr algn="ctr" latinLnBrk="1"/>
                      <a:r>
                        <a:rPr lang="ko-KR" altLang="en-US" b="1" dirty="0" smtClean="0">
                          <a:solidFill>
                            <a:schemeClr val="bg1"/>
                          </a:solidFill>
                        </a:rPr>
                        <a:t>대표 이미지</a:t>
                      </a:r>
                      <a:endParaRPr lang="en-US" altLang="ko-KR" b="1" dirty="0" smtClean="0">
                        <a:solidFill>
                          <a:schemeClr val="bg1"/>
                        </a:solidFill>
                      </a:endParaRPr>
                    </a:p>
                    <a:p>
                      <a:pPr algn="ctr" latinLnBrk="1"/>
                      <a:r>
                        <a:rPr lang="en-US" altLang="ko-KR" b="1" dirty="0" smtClean="0">
                          <a:solidFill>
                            <a:schemeClr val="bg1"/>
                          </a:solidFill>
                        </a:rPr>
                        <a:t>(</a:t>
                      </a:r>
                      <a:r>
                        <a:rPr lang="ko-KR" altLang="en-US" b="1" dirty="0" err="1" smtClean="0">
                          <a:solidFill>
                            <a:schemeClr val="bg1"/>
                          </a:solidFill>
                        </a:rPr>
                        <a:t>썸네일</a:t>
                      </a:r>
                      <a:r>
                        <a:rPr lang="en-US" altLang="ko-KR" b="1" dirty="0" smtClean="0">
                          <a:solidFill>
                            <a:schemeClr val="bg1"/>
                          </a:solidFill>
                        </a:rPr>
                        <a:t>)</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sz="1400" b="0">
                          <a:solidFill>
                            <a:srgbClr val="888888"/>
                          </a:solidFill>
                        </a:rPr>
                        <a:t>▣ 여기에 앱 아이콘 또는 대표 화면 이미지 1장을 넣으세요</a:t>
                      </a:r>
                      <a:endParaRPr lang="en-US" altLang="ko-KR" sz="1800" b="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3143481">
                <a:tc>
                  <a:txBody>
                    <a:bodyPr/>
                    <a:lstStyle/>
                    <a:p>
                      <a:pPr algn="ctr" latinLnBrk="1"/>
                      <a:r>
                        <a:rPr lang="ko-KR" altLang="en-US" b="1" dirty="0" smtClean="0">
                          <a:solidFill>
                            <a:schemeClr val="bg1"/>
                          </a:solidFill>
                        </a:rPr>
                        <a:t>서비스</a:t>
                      </a:r>
                      <a:endParaRPr lang="en-US" altLang="ko-KR" b="1" dirty="0" smtClean="0">
                        <a:solidFill>
                          <a:schemeClr val="bg1"/>
                        </a:solidFill>
                      </a:endParaRPr>
                    </a:p>
                    <a:p>
                      <a:pPr algn="ctr" latinLnBrk="1"/>
                      <a:r>
                        <a:rPr lang="ko-KR" altLang="en-US" b="1" dirty="0" smtClean="0">
                          <a:solidFill>
                            <a:schemeClr val="bg1"/>
                          </a:solidFill>
                        </a:rPr>
                        <a:t>상세 이미지</a:t>
                      </a:r>
                      <a:endParaRPr lang="en-US" altLang="ko-KR"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sz="1400" b="0">
                          <a:solidFill>
                            <a:srgbClr val="888888"/>
                          </a:solidFill>
                        </a:rPr>
                        <a:t>▣ 여기에 주요 화면 이미지 3~5장을 넣으세요</a:t>
                      </a:r>
                      <a:endParaRPr lang="en-US" altLang="ko-KR" sz="1800" b="0" dirty="0" smtClean="0">
                        <a:solidFill>
                          <a:srgbClr val="FF0000"/>
                        </a:solidFill>
                        <a:latin typeface="+mn-lt"/>
                      </a:endParaRPr>
                    </a:p>
                    <a:p>
                      <a:r>
                        <a:rPr sz="1400" b="0">
                          <a:solidFill>
                            <a:srgbClr val="888888"/>
                          </a:solidFill>
                        </a:rPr>
                        <a:t>   권장 : ① 퀘스트 탭  ② PLAY 미션 화면  ③ 장소 상세(관광정보)  ④ 코스 추천 결과  ⑤ PLAY 지도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282296920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26352838"/>
              </p:ext>
            </p:extLst>
          </p:nvPr>
        </p:nvGraphicFramePr>
        <p:xfrm>
          <a:off x="287250" y="1218429"/>
          <a:ext cx="11649825" cy="5079734"/>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1944404">
                <a:tc>
                  <a:txBody>
                    <a:bodyPr/>
                    <a:lstStyle/>
                    <a:p>
                      <a:pPr algn="ctr" latinLnBrk="1"/>
                      <a:r>
                        <a:rPr lang="ko-KR" altLang="en-US" b="1" dirty="0" smtClean="0">
                          <a:solidFill>
                            <a:schemeClr val="bg1"/>
                          </a:solidFill>
                        </a:rPr>
                        <a:t>특화 </a:t>
                      </a:r>
                      <a:r>
                        <a:rPr lang="ko-KR" altLang="en-US" b="1" dirty="0" err="1" smtClean="0">
                          <a:solidFill>
                            <a:schemeClr val="bg1"/>
                          </a:solidFill>
                        </a:rPr>
                        <a:t>지역명</a:t>
                      </a:r>
                      <a:endParaRPr lang="en-US" altLang="ko-KR" b="1" dirty="0" smtClean="0">
                        <a:solidFill>
                          <a:schemeClr val="bg1"/>
                        </a:solidFill>
                      </a:endParaRPr>
                    </a:p>
                    <a:p>
                      <a:pPr algn="ctr" latinLnBrk="1"/>
                      <a:r>
                        <a:rPr lang="en-US" altLang="ko-KR" sz="1600" b="1" dirty="0" smtClean="0">
                          <a:solidFill>
                            <a:schemeClr val="bg1"/>
                          </a:solidFill>
                        </a:rPr>
                        <a:t>* </a:t>
                      </a:r>
                      <a:r>
                        <a:rPr lang="ko-KR" altLang="en-US" sz="1600" b="1" dirty="0" smtClean="0">
                          <a:solidFill>
                            <a:schemeClr val="bg1"/>
                          </a:solidFill>
                        </a:rPr>
                        <a:t>서울 제외</a:t>
                      </a:r>
                      <a:endParaRPr lang="ko-KR" altLang="en-US" sz="16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lvl="0" indent="0" algn="just" rtl="0">
                        <a:spcBef>
                          <a:spcPts val="0"/>
                        </a:spcBef>
                        <a:spcAft>
                          <a:spcPts val="0"/>
                        </a:spcAft>
                        <a:buNone/>
                      </a:pPr>
                      <a:r>
                        <a:rPr sz="1600" b="1">
                          <a:solidFill>
                            <a:srgbClr val="1A1A1A"/>
                          </a:solidFill>
                        </a:rPr>
                        <a:t>제주특별자치도</a:t>
                      </a:r>
                      <a:endParaRPr lang="en-US" altLang="ko-KR" sz="1800" b="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3135330">
                <a:tc>
                  <a:txBody>
                    <a:bodyPr/>
                    <a:lstStyle/>
                    <a:p>
                      <a:pPr algn="ctr" latinLnBrk="1"/>
                      <a:r>
                        <a:rPr lang="ko-KR" altLang="en-US" b="1" dirty="0" smtClean="0">
                          <a:solidFill>
                            <a:schemeClr val="bg1"/>
                          </a:solidFill>
                        </a:rPr>
                        <a:t>구현 내용</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lvl="0" indent="0" algn="just" rtl="0">
                        <a:spcBef>
                          <a:spcPts val="0"/>
                        </a:spcBef>
                        <a:spcAft>
                          <a:spcPts val="0"/>
                        </a:spcAft>
                        <a:buNone/>
                      </a:pPr>
                      <a:r>
                        <a:rPr sz="1200" b="0">
                          <a:solidFill>
                            <a:srgbClr val="1A1A1A"/>
                          </a:solidFill>
                        </a:rPr>
                        <a:t>놀멍봅서는 전국 서비스의 일부로 제주를 다루는 것이 아니라, 제주에서만 성립하도록 설계된 서비스다.</a:t>
                      </a:r>
                      <a:endParaRPr lang="en-US" altLang="ko-KR" sz="1800" b="0" dirty="0" smtClean="0">
                        <a:solidFill>
                          <a:srgbClr val="FF0000"/>
                        </a:solidFill>
                        <a:latin typeface="+mn-lt"/>
                      </a:endParaRPr>
                    </a:p>
                    <a:p>
                      <a:r>
                        <a:rPr sz="1200" b="0">
                          <a:solidFill>
                            <a:srgbClr val="1A1A1A"/>
                          </a:solidFill>
                        </a:rPr>
                        <a:t>① 콘텐츠 대상이 제주로 한정되어 있다. 서비스에 등록된 장소가 전부 제주 소재이며, 지도·홈·코스 어디에도 제주 외 지역이 등장하지 않는다.</a:t>
                      </a:r>
                    </a:p>
                    <a:p>
                      <a:r>
                        <a:rPr sz="1200" b="0">
                          <a:solidFill>
                            <a:srgbClr val="1A1A1A"/>
                          </a:solidFill>
                        </a:rPr>
                        <a:t>② 현장 콘텐츠가 제주의 실물에 묶여 있다. 첫 PLAY인 성읍민속마을 「성읍 생활기록 복원작전」은 4개 지점 8개 미션으로 구성되는데, 미션의 답이 모두 제주 전통 가옥의 실제 구조물에 있다 — 정낭(대문 대신 걸치는 나무 막대), 올레(집으로 드는 굽은 골목), 통시, 물허벅을 놓던 자리, 축담과 마당의 배치. 이 미션들은 다른 지역에서는 성립하지 않는다.</a:t>
                      </a:r>
                    </a:p>
                    <a:p>
                      <a:r>
                        <a:rPr sz="1200" b="0">
                          <a:solidFill>
                            <a:srgbClr val="1A1A1A"/>
                          </a:solidFill>
                        </a:rPr>
                        <a:t>③ 코스 추천이 제주 여행자의 실제 이동 데이터에서 나온다. 제주 여행 일정 9,134건과 장소 방문 기록 146,508건을 분석해 코스 1,255개를 사전 산출했고, 경로 효율·하루 장소 수 적정성·관광지 비율로 점수를 매겨 추천한다.</a:t>
                      </a:r>
                    </a:p>
                    <a:p>
                      <a:r>
                        <a:rPr sz="1200" b="0">
                          <a:solidFill>
                            <a:srgbClr val="1A1A1A"/>
                          </a:solidFill>
                        </a:rPr>
                        <a:t>④ 제주어를 서비스 전면에 쓴다. 서비스명 '놀멍봅서'가 제주어이며, 진행 중 등장하는 안내 캐릭터의 대사에도 제주 말씨를 반영했다.</a:t>
                      </a:r>
                    </a:p>
                    <a:p>
                      <a:r>
                        <a:rPr sz="1200" b="0">
                          <a:solidFill>
                            <a:srgbClr val="1A1A1A"/>
                          </a:solidFill>
                        </a:rPr>
                        <a:t>⑤ 관광정보 조회도 제주로 좁혀 호출한다. 관광공사 OpenAPI 위치기반·지역기반 조회를 제주 좌표와 제주 지역코드로 요청해, 서비스 전 구간이 제주 데이터 위에서 동작한다.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126837495"/>
                  </a:ext>
                </a:extLst>
              </a:tr>
            </a:tbl>
          </a:graphicData>
        </a:graphic>
      </p:graphicFrame>
    </p:spTree>
    <p:extLst>
      <p:ext uri="{BB962C8B-B14F-4D97-AF65-F5344CB8AC3E}">
        <p14:creationId xmlns:p14="http://schemas.microsoft.com/office/powerpoint/2010/main" val="31925260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extLst>
              <p:ext uri="{D42A27DB-BD31-4B8C-83A1-F6EECF244321}">
                <p14:modId xmlns:p14="http://schemas.microsoft.com/office/powerpoint/2010/main" val="2957004574"/>
              </p:ext>
            </p:extLst>
          </p:nvPr>
        </p:nvGraphicFramePr>
        <p:xfrm>
          <a:off x="302952" y="1933326"/>
          <a:ext cx="11426308" cy="4605842"/>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7145">
                <a:tc gridSpan="4">
                  <a:txBody>
                    <a:bodyPr/>
                    <a:lstStyle/>
                    <a:p>
                      <a:pPr algn="ctr" latinLnBrk="1"/>
                      <a:r>
                        <a:rPr lang="ko-KR" altLang="en-US" dirty="0" smtClean="0">
                          <a:solidFill>
                            <a:schemeClr val="bg1"/>
                          </a:solidFill>
                        </a:rPr>
                        <a:t>기능</a:t>
                      </a:r>
                      <a:r>
                        <a:rPr lang="ko-KR" altLang="en-US" baseline="0" dirty="0" smtClean="0">
                          <a:solidFill>
                            <a:schemeClr val="bg1"/>
                          </a:solidFill>
                        </a:rPr>
                        <a:t> </a:t>
                      </a:r>
                      <a:r>
                        <a:rPr lang="ko-KR" altLang="en-US" dirty="0" smtClean="0">
                          <a:solidFill>
                            <a:schemeClr val="bg1"/>
                          </a:solidFill>
                        </a:rPr>
                        <a:t>흐름도</a:t>
                      </a:r>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80620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퀘스트 탭 목록</a:t>
                      </a:r>
                      <a:endParaRPr lang="en-US" altLang="ko-KR" sz="1800" b="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지점 도착 안내</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미션 화면</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완주 화면</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433874">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1A1A1A"/>
                          </a:solidFill>
                        </a:rPr>
                        <a:t>① 퀘스트 탭에서 플레이할 장소를 고르고 [퀘스트 수락]을 누른다.</a:t>
                      </a:r>
                      <a:endParaRPr lang="en-US" altLang="ko-KR"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② 안내받은 지점으로 이동한 뒤 [도착했어요]를 누른다.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③ 눈앞의 실물을 보고 미션에 답한다. 확인·선택·방향·숫자·단답·순서 맞추기 6가지 입력을 지원하며, 틀리면 힌트가 단계적으로 열린다.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④ 발견한 대상의 의미를 이야기로 확인하고 다음 지점으로 간다. 4개 지점 8개 미션을 마치고 마지막 단계를 풀면 완주 처리된다.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15" name="표 14"/>
          <p:cNvGraphicFramePr>
            <a:graphicFrameLocks noGrp="1"/>
          </p:cNvGraphicFramePr>
          <p:nvPr>
            <p:extLst>
              <p:ext uri="{D42A27DB-BD31-4B8C-83A1-F6EECF244321}">
                <p14:modId xmlns:p14="http://schemas.microsoft.com/office/powerpoint/2010/main" val="2744280268"/>
              </p:ext>
            </p:extLst>
          </p:nvPr>
        </p:nvGraphicFramePr>
        <p:xfrm>
          <a:off x="302952" y="1130530"/>
          <a:ext cx="11426308" cy="73152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236913">
                <a:tc>
                  <a:txBody>
                    <a:bodyPr/>
                    <a:lstStyle/>
                    <a:p>
                      <a:pPr algn="ctr" latinLnBrk="1"/>
                      <a:r>
                        <a:rPr sz="1400" b="1">
                          <a:solidFill>
                            <a:srgbClr val="1A1A1A"/>
                          </a:solidFill>
                        </a:rPr>
                        <a:t>핵심 기능1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latinLnBrk="1"/>
                      <a:r>
                        <a:rPr sz="1400" b="1">
                          <a:solidFill>
                            <a:srgbClr val="1A1A1A"/>
                          </a:solidFill>
                        </a:rPr>
                        <a:t>현장 탐험 PLAY</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236913">
                <a:tc>
                  <a:txBody>
                    <a:bodyPr/>
                    <a:lstStyle/>
                    <a:p>
                      <a:pPr algn="ctr" latinLnBrk="1"/>
                      <a:r>
                        <a:rPr lang="ko-KR" altLang="en-US" b="1" dirty="0" smtClean="0">
                          <a:solidFill>
                            <a:schemeClr val="bg1"/>
                          </a:solidFill>
                        </a:rPr>
                        <a:t>기능 설명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200" b="0">
                          <a:solidFill>
                            <a:srgbClr val="1A1A1A"/>
                          </a:solidFill>
                        </a:rPr>
                        <a:t>관광지 안을 실제로 이동하며 눈앞의 대상을 관찰해 미션을 풀고, 발견한 사실의 역사·생활사적 의미를 확인한 뒤 장소 하나를 완주하는 현장 게임 기능입니다. 미션의 정답은 화면 설명이 아니라 현장의 실물에 있습니다.</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8" name="표 7"/>
          <p:cNvGraphicFramePr>
            <a:graphicFrameLocks noGrp="1"/>
          </p:cNvGraphicFramePr>
          <p:nvPr>
            <p:extLst>
              <p:ext uri="{D42A27DB-BD31-4B8C-83A1-F6EECF244321}">
                <p14:modId xmlns:p14="http://schemas.microsoft.com/office/powerpoint/2010/main" val="2957004574"/>
              </p:ext>
            </p:extLst>
          </p:nvPr>
        </p:nvGraphicFramePr>
        <p:xfrm>
          <a:off x="302952" y="1933326"/>
          <a:ext cx="11426308" cy="4605842"/>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7145">
                <a:tc gridSpan="4">
                  <a:txBody>
                    <a:bodyPr/>
                    <a:lstStyle/>
                    <a:p>
                      <a:pPr algn="ctr" latinLnBrk="1"/>
                      <a:r>
                        <a:rPr lang="ko-KR" altLang="en-US" dirty="0" smtClean="0">
                          <a:solidFill>
                            <a:schemeClr val="bg1"/>
                          </a:solidFill>
                        </a:rPr>
                        <a:t>기능</a:t>
                      </a:r>
                      <a:r>
                        <a:rPr lang="ko-KR" altLang="en-US" baseline="0" dirty="0" smtClean="0">
                          <a:solidFill>
                            <a:schemeClr val="bg1"/>
                          </a:solidFill>
                        </a:rPr>
                        <a:t> </a:t>
                      </a:r>
                      <a:r>
                        <a:rPr lang="ko-KR" altLang="en-US" dirty="0" smtClean="0">
                          <a:solidFill>
                            <a:schemeClr val="bg1"/>
                          </a:solidFill>
                        </a:rPr>
                        <a:t>흐름도</a:t>
                      </a:r>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80620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장소 선택</a:t>
                      </a:r>
                      <a:endParaRPr lang="en-US" altLang="ko-KR" sz="1800" b="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사진 캐러셀</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개요·주소</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이용팁</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433874">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1A1A1A"/>
                          </a:solidFill>
                        </a:rPr>
                        <a:t>① 지도·퀘스트·코스 어디서든 장소를 선택한다.</a:t>
                      </a:r>
                      <a:endParaRPr lang="en-US" altLang="ko-KR"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② 서버가 장소 좌표로 위치기반 관광정보 조회를 호출해 콘텐츠 ID를 찾는다. 좌표로 잡히지 않는 곳은 키워드 검색 조회로 보완한다.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③ 공통정보 조회로 개요·주소·전화·대표이미지를, 이미지정보 조회로 사진을 최대 5장까지 받아 상단 캐러셀로 보여 준다.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④ 소개정보 조회로 운영시간·휴무일·입장료·주차 정보를 받아 이용팁으로 정리하고, 출처 ⓒ한국관광공사를 표기한다.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15" name="표 14"/>
          <p:cNvGraphicFramePr>
            <a:graphicFrameLocks noGrp="1"/>
          </p:cNvGraphicFramePr>
          <p:nvPr>
            <p:extLst>
              <p:ext uri="{D42A27DB-BD31-4B8C-83A1-F6EECF244321}">
                <p14:modId xmlns:p14="http://schemas.microsoft.com/office/powerpoint/2010/main" val="2744280268"/>
              </p:ext>
            </p:extLst>
          </p:nvPr>
        </p:nvGraphicFramePr>
        <p:xfrm>
          <a:off x="302952" y="1130530"/>
          <a:ext cx="11426308" cy="73152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236913">
                <a:tc>
                  <a:txBody>
                    <a:bodyPr/>
                    <a:lstStyle/>
                    <a:p>
                      <a:pPr algn="ctr" latinLnBrk="1"/>
                      <a:r>
                        <a:rPr sz="1400" b="1">
                          <a:solidFill>
                            <a:srgbClr val="1A1A1A"/>
                          </a:solidFill>
                        </a:rPr>
                        <a:t>핵심 기능2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latinLnBrk="1"/>
                      <a:r>
                        <a:rPr sz="1400" b="1">
                          <a:solidFill>
                            <a:srgbClr val="1A1A1A"/>
                          </a:solidFill>
                        </a:rPr>
                        <a:t>관광지 상세 정보 (한국관광공사 OpenAPI 실시간 연동)</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236913">
                <a:tc>
                  <a:txBody>
                    <a:bodyPr/>
                    <a:lstStyle/>
                    <a:p>
                      <a:pPr algn="ctr" latinLnBrk="1"/>
                      <a:r>
                        <a:rPr lang="ko-KR" altLang="en-US" b="1" dirty="0" smtClean="0">
                          <a:solidFill>
                            <a:schemeClr val="bg1"/>
                          </a:solidFill>
                        </a:rPr>
                        <a:t>기능 설명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200" b="0">
                          <a:solidFill>
                            <a:srgbClr val="1A1A1A"/>
                          </a:solidFill>
                        </a:rPr>
                        <a:t>장소를 선택하면 한국관광공사 OpenAPI를 그 자리에서 호출해 사진·개요·주소·연락처와 운영시간·휴무일·입장료·주차 정보를 보여 주는 기능입니다.</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8" name="표 7"/>
          <p:cNvGraphicFramePr>
            <a:graphicFrameLocks noGrp="1"/>
          </p:cNvGraphicFramePr>
          <p:nvPr>
            <p:extLst>
              <p:ext uri="{D42A27DB-BD31-4B8C-83A1-F6EECF244321}">
                <p14:modId xmlns:p14="http://schemas.microsoft.com/office/powerpoint/2010/main" val="2957004574"/>
              </p:ext>
            </p:extLst>
          </p:nvPr>
        </p:nvGraphicFramePr>
        <p:xfrm>
          <a:off x="302952" y="1933326"/>
          <a:ext cx="11426308" cy="4605842"/>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7145">
                <a:tc gridSpan="4">
                  <a:txBody>
                    <a:bodyPr/>
                    <a:lstStyle/>
                    <a:p>
                      <a:pPr algn="ctr" latinLnBrk="1"/>
                      <a:r>
                        <a:rPr lang="ko-KR" altLang="en-US" dirty="0" smtClean="0">
                          <a:solidFill>
                            <a:schemeClr val="bg1"/>
                          </a:solidFill>
                        </a:rPr>
                        <a:t>기능</a:t>
                      </a:r>
                      <a:r>
                        <a:rPr lang="ko-KR" altLang="en-US" baseline="0" dirty="0" smtClean="0">
                          <a:solidFill>
                            <a:schemeClr val="bg1"/>
                          </a:solidFill>
                        </a:rPr>
                        <a:t> </a:t>
                      </a:r>
                      <a:r>
                        <a:rPr lang="ko-KR" altLang="en-US" dirty="0" smtClean="0">
                          <a:solidFill>
                            <a:schemeClr val="bg1"/>
                          </a:solidFill>
                        </a:rPr>
                        <a:t>흐름도</a:t>
                      </a:r>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80620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조건 선택</a:t>
                      </a:r>
                      <a:endParaRPr lang="en-US" altLang="ko-KR" sz="1800" b="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추천 결과 목록</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코스 지도·일자별 목록</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내 코스</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433874">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1A1A1A"/>
                          </a:solidFill>
                        </a:rPr>
                        <a:t>① 코스 탭에서 권역(동/서/남/북/전체)과 기간(당일~3박4일 이상)을 고른다.</a:t>
                      </a:r>
                      <a:endParaRPr lang="en-US" altLang="ko-KR"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② 서버가 사전 분석해 둔 코스 1,255개 중 조건에 맞는 것을 찾는다.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③ 경로 효율 40%, 하루 장소 수 적정성 35%, 관광지 비율 25%로 매긴 품질 점수 상위권에서 코스를 추천한다.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④ 코스를 열면 지도와 일자별 장소 목록이 보이고, 장소를 누르면 관광정보 상세로 이어진다. 저장한 코스는 내 코스에서 다시 볼 수 있다.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15" name="표 14"/>
          <p:cNvGraphicFramePr>
            <a:graphicFrameLocks noGrp="1"/>
          </p:cNvGraphicFramePr>
          <p:nvPr>
            <p:extLst>
              <p:ext uri="{D42A27DB-BD31-4B8C-83A1-F6EECF244321}">
                <p14:modId xmlns:p14="http://schemas.microsoft.com/office/powerpoint/2010/main" val="2744280268"/>
              </p:ext>
            </p:extLst>
          </p:nvPr>
        </p:nvGraphicFramePr>
        <p:xfrm>
          <a:off x="302952" y="1130530"/>
          <a:ext cx="11426308" cy="73152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236913">
                <a:tc>
                  <a:txBody>
                    <a:bodyPr/>
                    <a:lstStyle/>
                    <a:p>
                      <a:pPr algn="ctr" latinLnBrk="1"/>
                      <a:r>
                        <a:rPr sz="1400" b="1">
                          <a:solidFill>
                            <a:srgbClr val="1A1A1A"/>
                          </a:solidFill>
                        </a:rPr>
                        <a:t>핵심 기능3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latinLnBrk="1"/>
                      <a:r>
                        <a:rPr sz="1400" b="1">
                          <a:solidFill>
                            <a:srgbClr val="1A1A1A"/>
                          </a:solidFill>
                        </a:rPr>
                        <a:t>실제 여행 동선 기반 코스 추천</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236913">
                <a:tc>
                  <a:txBody>
                    <a:bodyPr/>
                    <a:lstStyle/>
                    <a:p>
                      <a:pPr algn="ctr" latinLnBrk="1"/>
                      <a:r>
                        <a:rPr lang="ko-KR" altLang="en-US" b="1" dirty="0" smtClean="0">
                          <a:solidFill>
                            <a:schemeClr val="bg1"/>
                          </a:solidFill>
                        </a:rPr>
                        <a:t>기능 설명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200" b="0">
                          <a:solidFill>
                            <a:srgbClr val="1A1A1A"/>
                          </a:solidFill>
                        </a:rPr>
                        <a:t>제주 여행자들이 실제로 다닌 일정 데이터를 분석해 만든 코스를, 권역과 여행 기간 조건에 맞춰 추천하는 기능입니다.</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8" name="표 7"/>
          <p:cNvGraphicFramePr>
            <a:graphicFrameLocks noGrp="1"/>
          </p:cNvGraphicFramePr>
          <p:nvPr>
            <p:extLst>
              <p:ext uri="{D42A27DB-BD31-4B8C-83A1-F6EECF244321}">
                <p14:modId xmlns:p14="http://schemas.microsoft.com/office/powerpoint/2010/main" val="2957004574"/>
              </p:ext>
            </p:extLst>
          </p:nvPr>
        </p:nvGraphicFramePr>
        <p:xfrm>
          <a:off x="302952" y="1933326"/>
          <a:ext cx="11426308" cy="4605842"/>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7145">
                <a:tc gridSpan="4">
                  <a:txBody>
                    <a:bodyPr/>
                    <a:lstStyle/>
                    <a:p>
                      <a:pPr algn="ctr" latinLnBrk="1"/>
                      <a:r>
                        <a:rPr lang="ko-KR" altLang="en-US" dirty="0" smtClean="0">
                          <a:solidFill>
                            <a:schemeClr val="bg1"/>
                          </a:solidFill>
                        </a:rPr>
                        <a:t>기능</a:t>
                      </a:r>
                      <a:r>
                        <a:rPr lang="ko-KR" altLang="en-US" baseline="0" dirty="0" smtClean="0">
                          <a:solidFill>
                            <a:schemeClr val="bg1"/>
                          </a:solidFill>
                        </a:rPr>
                        <a:t> </a:t>
                      </a:r>
                      <a:r>
                        <a:rPr lang="ko-KR" altLang="en-US" dirty="0" smtClean="0">
                          <a:solidFill>
                            <a:schemeClr val="bg1"/>
                          </a:solidFill>
                        </a:rPr>
                        <a:t>흐름도</a:t>
                      </a:r>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80620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지도 전체</a:t>
                      </a:r>
                      <a:endParaRPr lang="en-US" altLang="ko-KR" sz="1800" b="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핀 범례·개수</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권역 이동</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핀 선택 결과</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433874">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1A1A1A"/>
                          </a:solidFill>
                        </a:rPr>
                        <a:t>① 지도 탭을 열면 제주 전역과 등록된 장소 핀이 표시된다.</a:t>
                      </a:r>
                      <a:endParaRPr lang="en-US" altLang="ko-KR"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② 핀은 플레이 가능과 준비 중 두 가지로 구분되고, 상단에 각각의 개수가 표시된다.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③ 권역 칩을 누르면 해당 권역으로 지도가 이동한다.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④ 플레이 가능한 핀을 누르면 PLAY 상세로, 준비 중인 핀을 누르면 관광정보가 담긴 장소 상세로 이동한다.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15" name="표 14"/>
          <p:cNvGraphicFramePr>
            <a:graphicFrameLocks noGrp="1"/>
          </p:cNvGraphicFramePr>
          <p:nvPr>
            <p:extLst>
              <p:ext uri="{D42A27DB-BD31-4B8C-83A1-F6EECF244321}">
                <p14:modId xmlns:p14="http://schemas.microsoft.com/office/powerpoint/2010/main" val="2744280268"/>
              </p:ext>
            </p:extLst>
          </p:nvPr>
        </p:nvGraphicFramePr>
        <p:xfrm>
          <a:off x="302952" y="1130530"/>
          <a:ext cx="11426308" cy="73152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236913">
                <a:tc>
                  <a:txBody>
                    <a:bodyPr/>
                    <a:lstStyle/>
                    <a:p>
                      <a:pPr algn="ctr" latinLnBrk="1"/>
                      <a:r>
                        <a:rPr sz="1400" b="1">
                          <a:solidFill>
                            <a:srgbClr val="1A1A1A"/>
                          </a:solidFill>
                        </a:rPr>
                        <a:t>핵심 기능4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latinLnBrk="1"/>
                      <a:r>
                        <a:rPr sz="1400" b="1">
                          <a:solidFill>
                            <a:srgbClr val="1A1A1A"/>
                          </a:solidFill>
                        </a:rPr>
                        <a:t>PLAY 지도</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236913">
                <a:tc>
                  <a:txBody>
                    <a:bodyPr/>
                    <a:lstStyle/>
                    <a:p>
                      <a:pPr algn="ctr" latinLnBrk="1"/>
                      <a:r>
                        <a:rPr lang="ko-KR" altLang="en-US" b="1" dirty="0" smtClean="0">
                          <a:solidFill>
                            <a:schemeClr val="bg1"/>
                          </a:solidFill>
                        </a:rPr>
                        <a:t>기능 설명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200" b="0">
                          <a:solidFill>
                            <a:srgbClr val="1A1A1A"/>
                          </a:solidFill>
                        </a:rPr>
                        <a:t>제주 어디에서 플레이할 수 있는지를 지도 위에서 한눈에 보여 주는 기능입니다.</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8" name="표 7"/>
          <p:cNvGraphicFramePr>
            <a:graphicFrameLocks noGrp="1"/>
          </p:cNvGraphicFramePr>
          <p:nvPr>
            <p:extLst>
              <p:ext uri="{D42A27DB-BD31-4B8C-83A1-F6EECF244321}">
                <p14:modId xmlns:p14="http://schemas.microsoft.com/office/powerpoint/2010/main" val="2957004574"/>
              </p:ext>
            </p:extLst>
          </p:nvPr>
        </p:nvGraphicFramePr>
        <p:xfrm>
          <a:off x="302952" y="1933326"/>
          <a:ext cx="11426308" cy="4605842"/>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7145">
                <a:tc gridSpan="4">
                  <a:txBody>
                    <a:bodyPr/>
                    <a:lstStyle/>
                    <a:p>
                      <a:pPr algn="ctr" latinLnBrk="1"/>
                      <a:r>
                        <a:rPr lang="ko-KR" altLang="en-US" dirty="0" smtClean="0">
                          <a:solidFill>
                            <a:schemeClr val="bg1"/>
                          </a:solidFill>
                        </a:rPr>
                        <a:t>기능</a:t>
                      </a:r>
                      <a:r>
                        <a:rPr lang="ko-KR" altLang="en-US" baseline="0" dirty="0" smtClean="0">
                          <a:solidFill>
                            <a:schemeClr val="bg1"/>
                          </a:solidFill>
                        </a:rPr>
                        <a:t> </a:t>
                      </a:r>
                      <a:r>
                        <a:rPr lang="ko-KR" altLang="en-US" dirty="0" smtClean="0">
                          <a:solidFill>
                            <a:schemeClr val="bg1"/>
                          </a:solidFill>
                        </a:rPr>
                        <a:t>흐름도</a:t>
                      </a:r>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80620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미션 완료</a:t>
                      </a:r>
                      <a:endParaRPr lang="en-US" altLang="ko-KR" sz="1800" b="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앱 재실행</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이어서 하기</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888888"/>
                          </a:solidFill>
                        </a:rPr>
                        <a:t>▣ 캡처 : 다시 하기</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433874">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sz="1100" b="0">
                          <a:solidFill>
                            <a:srgbClr val="1A1A1A"/>
                          </a:solidFill>
                        </a:rPr>
                        <a:t>① 미션을 완료할 때마다 진행 상태가 기기에 저장된다.</a:t>
                      </a:r>
                      <a:endParaRPr lang="en-US" altLang="ko-KR"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② 앱을 종료하거나 다른 화면으로 이동해도 기록이 유지된다.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③ 다시 들어오면 퀘스트 카드의 버튼이 [이어서 하기]로 바뀌고, 누르면 완료한 미션 다음 지점부터 진행한다.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gn="ctr" latinLnBrk="1"/>
                      <a:r>
                        <a:rPr sz="1100" b="0">
                          <a:solidFill>
                            <a:srgbClr val="1A1A1A"/>
                          </a:solidFill>
                        </a:rPr>
                        <a:t>④ 완주한 뒤에는 버튼이 [다시 하기]로 바뀌어 처음부터 다시 플레이할 수 있다.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15" name="표 14"/>
          <p:cNvGraphicFramePr>
            <a:graphicFrameLocks noGrp="1"/>
          </p:cNvGraphicFramePr>
          <p:nvPr>
            <p:extLst>
              <p:ext uri="{D42A27DB-BD31-4B8C-83A1-F6EECF244321}">
                <p14:modId xmlns:p14="http://schemas.microsoft.com/office/powerpoint/2010/main" val="2744280268"/>
              </p:ext>
            </p:extLst>
          </p:nvPr>
        </p:nvGraphicFramePr>
        <p:xfrm>
          <a:off x="302952" y="1130530"/>
          <a:ext cx="11426308" cy="73152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236913">
                <a:tc>
                  <a:txBody>
                    <a:bodyPr/>
                    <a:lstStyle/>
                    <a:p>
                      <a:pPr algn="ctr" latinLnBrk="1"/>
                      <a:r>
                        <a:rPr sz="1400" b="1">
                          <a:solidFill>
                            <a:srgbClr val="1A1A1A"/>
                          </a:solidFill>
                        </a:rPr>
                        <a:t>핵심 기능5</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latinLnBrk="1"/>
                      <a:r>
                        <a:rPr sz="1400" b="1">
                          <a:solidFill>
                            <a:srgbClr val="1A1A1A"/>
                          </a:solidFill>
                        </a:rPr>
                        <a:t>진행 상태 저장과 이어하기</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236913">
                <a:tc>
                  <a:txBody>
                    <a:bodyPr/>
                    <a:lstStyle/>
                    <a:p>
                      <a:pPr algn="ctr" latinLnBrk="1"/>
                      <a:r>
                        <a:rPr lang="ko-KR" altLang="en-US" b="1" dirty="0" smtClean="0">
                          <a:solidFill>
                            <a:schemeClr val="bg1"/>
                          </a:solidFill>
                        </a:rPr>
                        <a:t>기능 설명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200" b="0">
                          <a:solidFill>
                            <a:srgbClr val="1A1A1A"/>
                          </a:solidFill>
                        </a:rPr>
                        <a:t>현장에서 PLAY를 중단해도 완료한 미션 다음부터 다시 이어서 진행할 수 있게 하는 기능입니다. 로그인 없이 기기에 저장됩니다.</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4770658" cy="307777"/>
          </a:xfrm>
          <a:prstGeom prst="rect">
            <a:avLst/>
          </a:prstGeom>
          <a:solidFill>
            <a:srgbClr val="FF6F00"/>
          </a:solidFill>
        </p:spPr>
        <p:txBody>
          <a:bodyPr wrap="square" rtlCol="0">
            <a:spAutoFit/>
          </a:bodyPr>
          <a:lstStyle/>
          <a:p>
            <a:pPr algn="ctr"/>
            <a:r>
              <a:rPr lang="ko-KR" altLang="en-US" sz="1400" b="1" dirty="0" smtClean="0">
                <a:solidFill>
                  <a:schemeClr val="bg1"/>
                </a:solidFill>
              </a:rPr>
              <a:t>서비스 개발에 활용한 한국관광공사 </a:t>
            </a:r>
            <a:r>
              <a:rPr lang="en-US" altLang="ko-KR" sz="1400" b="1" dirty="0" smtClean="0">
                <a:solidFill>
                  <a:schemeClr val="bg1"/>
                </a:solidFill>
              </a:rPr>
              <a:t>OpenAPI </a:t>
            </a:r>
            <a:r>
              <a:rPr lang="ko-KR" altLang="en-US" sz="1400" b="1" dirty="0" smtClean="0">
                <a:solidFill>
                  <a:schemeClr val="bg1"/>
                </a:solidFill>
              </a:rPr>
              <a:t>리스트</a:t>
            </a:r>
            <a:endParaRPr lang="ko-KR" altLang="en-US" sz="1400" b="1" dirty="0">
              <a:solidFill>
                <a:schemeClr val="bg1"/>
              </a:solidFill>
            </a:endParaRPr>
          </a:p>
        </p:txBody>
      </p:sp>
      <p:graphicFrame>
        <p:nvGraphicFramePr>
          <p:cNvPr id="7" name="표 6"/>
          <p:cNvGraphicFramePr>
            <a:graphicFrameLocks noGrp="1"/>
          </p:cNvGraphicFramePr>
          <p:nvPr>
            <p:extLst>
              <p:ext uri="{D42A27DB-BD31-4B8C-83A1-F6EECF244321}">
                <p14:modId xmlns:p14="http://schemas.microsoft.com/office/powerpoint/2010/main" val="1226638178"/>
              </p:ext>
            </p:extLst>
          </p:nvPr>
        </p:nvGraphicFramePr>
        <p:xfrm>
          <a:off x="174566" y="1646098"/>
          <a:ext cx="11628657" cy="3789680"/>
        </p:xfrm>
        <a:graphic>
          <a:graphicData uri="http://schemas.openxmlformats.org/drawingml/2006/table">
            <a:tbl>
              <a:tblPr firstRow="1" bandRow="1">
                <a:tableStyleId>{5C22544A-7EE6-4342-B048-85BDC9FD1C3A}</a:tableStyleId>
              </a:tblPr>
              <a:tblGrid>
                <a:gridCol w="821150">
                  <a:extLst>
                    <a:ext uri="{9D8B030D-6E8A-4147-A177-3AD203B41FA5}">
                      <a16:colId xmlns:a16="http://schemas.microsoft.com/office/drawing/2014/main" val="842166946"/>
                    </a:ext>
                  </a:extLst>
                </a:gridCol>
                <a:gridCol w="1816388">
                  <a:extLst>
                    <a:ext uri="{9D8B030D-6E8A-4147-A177-3AD203B41FA5}">
                      <a16:colId xmlns:a16="http://schemas.microsoft.com/office/drawing/2014/main" val="3903607114"/>
                    </a:ext>
                  </a:extLst>
                </a:gridCol>
                <a:gridCol w="8991119">
                  <a:extLst>
                    <a:ext uri="{9D8B030D-6E8A-4147-A177-3AD203B41FA5}">
                      <a16:colId xmlns:a16="http://schemas.microsoft.com/office/drawing/2014/main" val="2519424337"/>
                    </a:ext>
                  </a:extLst>
                </a:gridCol>
              </a:tblGrid>
              <a:tr h="370840">
                <a:tc rowSpan="2">
                  <a:txBody>
                    <a:bodyPr/>
                    <a:lstStyle/>
                    <a:p>
                      <a:pPr algn="ctr" latinLnBrk="1"/>
                      <a:r>
                        <a:rPr lang="en-US" altLang="ko-KR" sz="3200" b="1" dirty="0" smtClean="0">
                          <a:solidFill>
                            <a:schemeClr val="tx1"/>
                          </a:solidFill>
                        </a:rPr>
                        <a:t>1</a:t>
                      </a:r>
                      <a:endParaRPr lang="ko-KR" altLang="en-US" sz="3200" b="1"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dirty="0" smtClean="0">
                          <a:solidFill>
                            <a:schemeClr val="bg1"/>
                          </a:solidFill>
                        </a:rPr>
                        <a:t>API</a:t>
                      </a:r>
                      <a:r>
                        <a:rPr lang="ko-KR" altLang="en-US" b="1" dirty="0" smtClean="0">
                          <a:solidFill>
                            <a:schemeClr val="bg1"/>
                          </a:solidFill>
                        </a:rPr>
                        <a:t>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sz="1400" b="1">
                          <a:solidFill>
                            <a:srgbClr val="1A1A1A"/>
                          </a:solidFill>
                        </a:rPr>
                        <a:t>한국관광공사 국문 관광정보 서비스 (KorService2)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dirty="0" smtClean="0">
                          <a:solidFill>
                            <a:schemeClr val="bg1"/>
                          </a:solidFill>
                        </a:rPr>
                        <a:t>상세설명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sz="1200" b="0">
                          <a:solidFill>
                            <a:srgbClr val="1A1A1A"/>
                          </a:solidFill>
                        </a:rPr>
                        <a:t>서비스 전반의 관광정보를 담당한다. 위치기반 관광정보 조회로 장소 좌표에서 관광지를 식별하고, 키워드 검색 조회로 좌표 검색에 잡히지 않는 관광지를 보완한다. 공통정보 조회로 개요·주소·전화·대표이미지를, 이미지정보 조회로 상세 사진(최대 5장)을, 소개정보 조회로 운영시간·휴무일·입장료·주차 정보를 받아 장소 상세 화면과 퀘스트·코스 카드 썸네일에 사용한다. 지역기반 관광정보 조회로 받은 제주 관광지 618건의 분류 정보는 코스 추천 품질 점수의 '관광지 비율' 지표에 사용한다.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dirty="0" smtClean="0">
                          <a:solidFill>
                            <a:schemeClr val="tx1"/>
                          </a:solidFill>
                        </a:rPr>
                        <a:t>2</a:t>
                      </a:r>
                      <a:endParaRPr lang="ko-KR" altLang="en-US" sz="3200" b="1"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dirty="0" smtClean="0">
                          <a:solidFill>
                            <a:schemeClr val="bg1"/>
                          </a:solidFill>
                        </a:rPr>
                        <a:t>API</a:t>
                      </a:r>
                      <a:r>
                        <a:rPr lang="ko-KR" altLang="en-US" b="1" dirty="0" smtClean="0">
                          <a:solidFill>
                            <a:schemeClr val="bg1"/>
                          </a:solidFill>
                        </a:rPr>
                        <a:t>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algn="just" latinLnBrk="1"/>
                      <a:r>
                        <a:rPr sz="1400" b="1">
                          <a:solidFill>
                            <a:srgbClr val="1A1A1A"/>
                          </a:solidFill>
                        </a:rPr>
                        <a:t>한국관광공사 관광지 오디오 가이드 (Odii)</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dirty="0" smtClean="0">
                          <a:solidFill>
                            <a:schemeClr val="bg1"/>
                          </a:solidFill>
                        </a:rPr>
                        <a:t>상세설명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algn="just" latinLnBrk="1"/>
                      <a:r>
                        <a:rPr sz="1200" b="0">
                          <a:solidFill>
                            <a:srgbClr val="1A1A1A"/>
                          </a:solidFill>
                        </a:rPr>
                        <a:t>위치기반 이야기 목록 조회로 제주 지역 오디오 해설이 존재하는 지점을 수집해, PLAY로 제작할 장소 후보를 선정하고 퀘스트 탭의 장소 노출 순서를 정하는 데 사용한다. 개별 해설 대본은 저장하지 않고 필요한 시점에 실시간 조회한다.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222294703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3893580" cy="307777"/>
          </a:xfrm>
          <a:prstGeom prst="rect">
            <a:avLst/>
          </a:prstGeom>
          <a:solidFill>
            <a:srgbClr val="FF6F00"/>
          </a:solidFill>
        </p:spPr>
        <p:txBody>
          <a:bodyPr wrap="square" rtlCol="0">
            <a:spAutoFit/>
          </a:bodyPr>
          <a:lstStyle/>
          <a:p>
            <a:pPr algn="ctr"/>
            <a:r>
              <a:rPr lang="ko-KR" altLang="en-US" sz="1400" b="1" dirty="0" smtClean="0">
                <a:solidFill>
                  <a:schemeClr val="bg1"/>
                </a:solidFill>
              </a:rPr>
              <a:t>서비스 개발에 활용한 기타 </a:t>
            </a:r>
            <a:r>
              <a:rPr lang="en-US" altLang="ko-KR" sz="1400" b="1" dirty="0" smtClean="0">
                <a:solidFill>
                  <a:schemeClr val="bg1"/>
                </a:solidFill>
              </a:rPr>
              <a:t>API, </a:t>
            </a:r>
            <a:r>
              <a:rPr lang="ko-KR" altLang="en-US" sz="1400" b="1" dirty="0" err="1" smtClean="0">
                <a:solidFill>
                  <a:schemeClr val="bg1"/>
                </a:solidFill>
              </a:rPr>
              <a:t>파일데이터</a:t>
            </a:r>
            <a:endParaRPr lang="ko-KR" altLang="en-US" sz="1400" b="1" dirty="0">
              <a:solidFill>
                <a:schemeClr val="bg1"/>
              </a:solidFill>
            </a:endParaRPr>
          </a:p>
        </p:txBody>
      </p:sp>
      <p:graphicFrame>
        <p:nvGraphicFramePr>
          <p:cNvPr id="7" name="표 6"/>
          <p:cNvGraphicFramePr>
            <a:graphicFrameLocks noGrp="1"/>
          </p:cNvGraphicFramePr>
          <p:nvPr>
            <p:extLst>
              <p:ext uri="{D42A27DB-BD31-4B8C-83A1-F6EECF244321}">
                <p14:modId xmlns:p14="http://schemas.microsoft.com/office/powerpoint/2010/main" val="1310626099"/>
              </p:ext>
            </p:extLst>
          </p:nvPr>
        </p:nvGraphicFramePr>
        <p:xfrm>
          <a:off x="174566" y="1646098"/>
          <a:ext cx="11628657" cy="2265680"/>
        </p:xfrm>
        <a:graphic>
          <a:graphicData uri="http://schemas.openxmlformats.org/drawingml/2006/table">
            <a:tbl>
              <a:tblPr firstRow="1" bandRow="1">
                <a:tableStyleId>{5C22544A-7EE6-4342-B048-85BDC9FD1C3A}</a:tableStyleId>
              </a:tblPr>
              <a:tblGrid>
                <a:gridCol w="821150">
                  <a:extLst>
                    <a:ext uri="{9D8B030D-6E8A-4147-A177-3AD203B41FA5}">
                      <a16:colId xmlns:a16="http://schemas.microsoft.com/office/drawing/2014/main" val="842166946"/>
                    </a:ext>
                  </a:extLst>
                </a:gridCol>
                <a:gridCol w="1816388">
                  <a:extLst>
                    <a:ext uri="{9D8B030D-6E8A-4147-A177-3AD203B41FA5}">
                      <a16:colId xmlns:a16="http://schemas.microsoft.com/office/drawing/2014/main" val="3903607114"/>
                    </a:ext>
                  </a:extLst>
                </a:gridCol>
                <a:gridCol w="8991119">
                  <a:extLst>
                    <a:ext uri="{9D8B030D-6E8A-4147-A177-3AD203B41FA5}">
                      <a16:colId xmlns:a16="http://schemas.microsoft.com/office/drawing/2014/main" val="2519424337"/>
                    </a:ext>
                  </a:extLst>
                </a:gridCol>
              </a:tblGrid>
              <a:tr h="370840">
                <a:tc rowSpan="2">
                  <a:txBody>
                    <a:bodyPr/>
                    <a:lstStyle/>
                    <a:p>
                      <a:pPr algn="ctr" latinLnBrk="1"/>
                      <a:r>
                        <a:rPr lang="en-US" altLang="ko-KR" sz="3200" b="1" dirty="0" smtClean="0">
                          <a:solidFill>
                            <a:schemeClr val="tx1"/>
                          </a:solidFill>
                        </a:rPr>
                        <a:t>1</a:t>
                      </a:r>
                      <a:endParaRPr lang="ko-KR" altLang="en-US" sz="3200" b="1"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dirty="0" err="1" smtClean="0">
                          <a:solidFill>
                            <a:schemeClr val="bg1"/>
                          </a:solidFill>
                        </a:rPr>
                        <a:t>데이터명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sz="1400" b="1">
                          <a:solidFill>
                            <a:srgbClr val="1A1A1A"/>
                          </a:solidFill>
                        </a:rPr>
                        <a:t>제주 여행 일정 데이터</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dirty="0" smtClean="0">
                          <a:solidFill>
                            <a:schemeClr val="bg1"/>
                          </a:solidFill>
                        </a:rPr>
                        <a:t>상세설명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sz="1200" b="0">
                          <a:solidFill>
                            <a:srgbClr val="1A1A1A"/>
                          </a:solidFill>
                        </a:rPr>
                        <a:t>제주 여행자의 실제 일정 9,134건과 장소 방문 기록 146,508건. 경로 효율·하루 장소 수·관광지 비율을 계산해 추천 코스 1,255개를 사전 산출하는 데 사용한다.</a:t>
                      </a:r>
                      <a:endParaRPr lang="ko-KR" altLang="en-US" b="0" dirty="0" smtClean="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dirty="0" smtClean="0">
                          <a:solidFill>
                            <a:schemeClr val="tx1"/>
                          </a:solidFill>
                        </a:rPr>
                        <a:t>2</a:t>
                      </a:r>
                      <a:endParaRPr lang="ko-KR" altLang="en-US" sz="3200" b="1"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dirty="0" err="1" smtClean="0">
                          <a:solidFill>
                            <a:schemeClr val="bg1"/>
                          </a:solidFill>
                        </a:rPr>
                        <a:t>데이터명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algn="just" latinLnBrk="1"/>
                      <a:r>
                        <a:rPr sz="1400" b="1">
                          <a:solidFill>
                            <a:srgbClr val="1A1A1A"/>
                          </a:solidFill>
                        </a:rPr>
                        <a:t>Typecast 음성합성 API</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dirty="0" smtClean="0">
                          <a:solidFill>
                            <a:schemeClr val="bg1"/>
                          </a:solidFill>
                        </a:rPr>
                        <a:t>상세설명</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A401"/>
                    </a:solidFill>
                  </a:tcPr>
                </a:tc>
                <a:tc>
                  <a:txBody>
                    <a:bodyPr/>
                    <a:lstStyle/>
                    <a:p>
                      <a:pPr algn="just" latinLnBrk="1"/>
                      <a:r>
                        <a:rPr sz="1200" b="0">
                          <a:solidFill>
                            <a:srgbClr val="1A1A1A"/>
                          </a:solidFill>
                        </a:rPr>
                        <a:t>PLAY 진행 중 이야기 단계의 음성 안내를 생성한다. 화면 자막과 음성은 동일한 문장을 사용하며, 음성 재생에 실패해도 자막으로 진행할 수 있다.</a:t>
                      </a:r>
                      <a:endParaRPr lang="ko-KR" altLang="en-US" b="0"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31773564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2048382877"/>
              </p:ext>
            </p:extLst>
          </p:nvPr>
        </p:nvGraphicFramePr>
        <p:xfrm>
          <a:off x="287250" y="1218429"/>
          <a:ext cx="11649825" cy="5074306"/>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466075">
                <a:tc>
                  <a:txBody>
                    <a:bodyPr/>
                    <a:lstStyle/>
                    <a:p>
                      <a:pPr algn="ctr" latinLnBrk="1"/>
                      <a:r>
                        <a:rPr lang="ko-KR" altLang="en-US" b="1" dirty="0" smtClean="0">
                          <a:solidFill>
                            <a:schemeClr val="bg1"/>
                          </a:solidFill>
                        </a:rPr>
                        <a:t>차별성</a:t>
                      </a:r>
                      <a:endParaRPr lang="en-US" altLang="ko-KR"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lvl="0" indent="0" algn="just" rtl="0">
                        <a:spcBef>
                          <a:spcPts val="0"/>
                        </a:spcBef>
                        <a:spcAft>
                          <a:spcPts val="0"/>
                        </a:spcAft>
                        <a:buNone/>
                      </a:pPr>
                      <a:r>
                        <a:rPr sz="1200" b="0">
                          <a:solidFill>
                            <a:srgbClr val="1A1A1A"/>
                          </a:solidFill>
                        </a:rPr>
                        <a:t>① 관광지를 설명하지 않고, 플레이하게 한다. 기존 관광 앱과 오디오 가이드는 정보를 전달한다. 놀멍봅서는 여행자가 현장에서 직접 찾아내게 한 뒤에 의미를 알려준다. 진행 순서가 '설명 → 관람'이 아니라 '관찰 → 발견 → 의미'다.</a:t>
                      </a:r>
                      <a:endParaRPr lang="en-US" altLang="ko-KR" sz="1800" b="0" dirty="0" smtClean="0">
                        <a:solidFill>
                          <a:srgbClr val="FF0000"/>
                        </a:solidFill>
                        <a:latin typeface="+mn-lt"/>
                      </a:endParaRPr>
                    </a:p>
                    <a:p>
                      <a:r>
                        <a:rPr sz="1200" b="0">
                          <a:solidFill>
                            <a:srgbClr val="1A1A1A"/>
                          </a:solidFill>
                        </a:rPr>
                        <a:t>② 미션의 정답이 화면이 아니라 눈앞의 실물에 있다. 정낭의 개수, 올레가 굽은 방향, 두 고택의 구조 차이처럼 실제로 그 자리에 가서 봐야만 답할 수 있는 것을 묻는다. 그래서 이 콘텐츠는 집에서 소비될 수 없고 현장에서만 성립한다.</a:t>
                      </a:r>
                    </a:p>
                    <a:p>
                      <a:r>
                        <a:rPr sz="1200" b="0">
                          <a:solidFill>
                            <a:srgbClr val="1A1A1A"/>
                          </a:solidFill>
                        </a:rPr>
                        <a:t>③ 끝이 있는 경험이다. 하나의 PLAY는 시작과 완주가 정해져 있고, 마지막 단계에서 앞서 얻은 발견들을 하나로 엮어 '이 장소에서 무엇을 알게 되었는가'를 남긴다.</a:t>
                      </a:r>
                    </a:p>
                    <a:p>
                      <a:r>
                        <a:rPr sz="1200" b="0">
                          <a:solidFill>
                            <a:srgbClr val="1A1A1A"/>
                          </a:solidFill>
                        </a:rPr>
                        <a:t>④ 여행 전과 여행 중을 하나의 앱에서 잇는다. 코스 추천이 여행 전의 '제주 어디 갈까'를, 현장 PLAY가 도착 후의 '여기서 무엇을 볼까'를 해결한다.</a:t>
                      </a:r>
                    </a:p>
                    <a:p>
                      <a:r>
                        <a:rPr sz="1200" b="0">
                          <a:solidFill>
                            <a:srgbClr val="1A1A1A"/>
                          </a:solidFill>
                        </a:rPr>
                        <a:t>⑤ 위치정보를 단말 안에서만 쓴다. 사용자 위치를 서버로 전송하지 않으며, 위치 권한을 허용하지 않아도 PLAY를 끝까지 완주할 수 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608231">
                <a:tc>
                  <a:txBody>
                    <a:bodyPr/>
                    <a:lstStyle/>
                    <a:p>
                      <a:pPr algn="ctr" latinLnBrk="1"/>
                      <a:r>
                        <a:rPr lang="ko-KR" altLang="en-US" b="1" dirty="0" smtClean="0">
                          <a:solidFill>
                            <a:schemeClr val="bg1"/>
                          </a:solidFill>
                        </a:rPr>
                        <a:t>발전계획</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sz="1200" b="0">
                          <a:solidFill>
                            <a:srgbClr val="1A1A1A"/>
                          </a:solidFill>
                        </a:rPr>
                        <a:t>· 콘텐츠 확대 — 제작 문법이 검증된 만큼, 유형이 다른 제주 관광지(자연·지질, 근현대사, 불교문화, 해양생활)로 넓혀 서로 다른 종류의 장소에도 같은 방식이 적용됨을 보인다.</a:t>
                      </a:r>
                    </a:p>
                    <a:p>
                      <a:r>
                        <a:rPr sz="1200" b="0">
                          <a:solidFill>
                            <a:srgbClr val="1A1A1A"/>
                          </a:solidFill>
                        </a:rPr>
                        <a:t>· 여행자 참여형 검증 — 이미 구현된 「현장에서 찾을 수 없어요」 신고를 확대해, 현장이 바뀌었을 때(공사·이전·훼손) 콘텐츠를 빠르게 고칠 수 있는 운영 체계를 만든다.</a:t>
                      </a:r>
                    </a:p>
                    <a:p>
                      <a:r>
                        <a:rPr sz="1200" b="0">
                          <a:solidFill>
                            <a:srgbClr val="1A1A1A"/>
                          </a:solidFill>
                        </a:rPr>
                        <a:t>· 다국어 지원 — 관광공사 OpenAPI가 영문·중문·일문 관광정보를 함께 제공하므로, 관광정보 영역부터 다국어로 확장한다.</a:t>
                      </a:r>
                    </a:p>
                    <a:p>
                      <a:r>
                        <a:rPr sz="1200" b="0">
                          <a:solidFill>
                            <a:srgbClr val="1A1A1A"/>
                          </a:solidFill>
                        </a:rPr>
                        <a:t>· 지역·기관 협업 — 지자체와 관광지 운영 주체가 자기 장소의 PLAY를 제안·검수할 수 있는 경로를 만든다.</a:t>
                      </a:r>
                    </a:p>
                    <a:p>
                      <a:r>
                        <a:rPr sz="1200" b="0">
                          <a:solidFill>
                            <a:srgbClr val="1A1A1A"/>
                          </a:solidFill>
                        </a:rPr>
                        <a:t>· 관광 데이터 환류 — 어떤 지점에서 여행자가 오래 머무는지, 어떤 미션에서 이탈하는지가 쌓이면 관광지 운영에 쓸 수 있는 현장 체류 데이터가 된다. 개인위치정보를 수집하지 않는 범위에서 설계한다.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3988568962"/>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408</TotalTime>
  <Words>549</Words>
  <Application>Microsoft Office PowerPoint</Application>
  <PresentationFormat>와이드스크린</PresentationFormat>
  <Paragraphs>95</Paragraphs>
  <Slides>9</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vt:i4>
      </vt:variant>
    </vt:vector>
  </HeadingPairs>
  <TitlesOfParts>
    <vt:vector size="13" baseType="lpstr">
      <vt:lpstr>Noto Sans KR Medium</vt:lpstr>
      <vt:lpstr>맑은 고딕</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KTO</dc:creator>
  <cp:lastModifiedBy>USER</cp:lastModifiedBy>
  <cp:revision>64</cp:revision>
  <dcterms:created xsi:type="dcterms:W3CDTF">2026-07-07T05:25:59Z</dcterms:created>
  <dcterms:modified xsi:type="dcterms:W3CDTF">2026-07-29T05:45:18Z</dcterms:modified>
</cp:coreProperties>
</file>